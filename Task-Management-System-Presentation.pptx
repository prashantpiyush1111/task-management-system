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1711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548640"/>
            <a:ext cx="2743200" cy="27432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6" name="Image 0" descr="/home/claude/ppt/icons/layers_121D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" y="994867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MANAGEMENT SYSTEM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Full-Stack Platform for Project &amp; Sprint Management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343400"/>
            <a:ext cx="128016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5262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·  Spring Boot  ·  Spring Security  ·  JWT  ·  MySQL  ·  Hibernate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Prashant Maurya  |  Java Full Stack Developer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enterprise-grade backend system for coordinating projects, tracking issues, planning sprints, and managing team workflows across the full software development lifecycle.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10896" cy="310896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6" name="Image 0" descr="/home/claude/ppt/icons/check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2857500"/>
            <a:ext cx="173736" cy="173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7340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108960" y="273405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growing teams and projects without rework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355848"/>
            <a:ext cx="310896" cy="310896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0" name="Image 1" descr="/home/claude/ppt/icons/check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3424428"/>
            <a:ext cx="173736" cy="1737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33009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108960" y="330098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layered structure keeps code easy to extend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922776"/>
            <a:ext cx="310896" cy="310896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4" name="Image 2" descr="/home/claude/ppt/icons/check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3991356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38679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108960" y="386791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JWT-secured, role-based access on every endpoint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4489704"/>
            <a:ext cx="310896" cy="310896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8" name="Image 3" descr="/home/claude/ppt/icons/check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4558284"/>
            <a:ext cx="173736" cy="1737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4434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108960" y="4434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owns a single responsibility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040880" y="1417320"/>
            <a:ext cx="4572000" cy="4754880"/>
          </a:xfrm>
          <a:prstGeom prst="roundRect">
            <a:avLst>
              <a:gd name="adj" fmla="val 2400"/>
            </a:avLst>
          </a:prstGeom>
          <a:solidFill>
            <a:srgbClr val="121D33"/>
          </a:solidFill>
          <a:ln/>
        </p:spPr>
      </p:sp>
      <p:sp>
        <p:nvSpPr>
          <p:cNvPr id="22" name="Text 16"/>
          <p:cNvSpPr/>
          <p:nvPr/>
        </p:nvSpPr>
        <p:spPr>
          <a:xfrm>
            <a:off x="736092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7360920" y="2286000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263B63"/>
          </a:solidFill>
          <a:ln/>
        </p:spPr>
      </p:sp>
      <p:sp>
        <p:nvSpPr>
          <p:cNvPr id="24" name="Text 18"/>
          <p:cNvSpPr/>
          <p:nvPr/>
        </p:nvSpPr>
        <p:spPr>
          <a:xfrm>
            <a:off x="7360920" y="228600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1300" dirty="0"/>
          </a:p>
        </p:txBody>
      </p:sp>
      <p:pic>
        <p:nvPicPr>
          <p:cNvPr id="25" name="Image 4" descr="/home/claude/ppt/icons/arrowRight_A8C5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988552" y="2862072"/>
            <a:ext cx="292608" cy="292608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7360920" y="3218688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263B63"/>
          </a:solidFill>
          <a:ln/>
        </p:spPr>
      </p:sp>
      <p:sp>
        <p:nvSpPr>
          <p:cNvPr id="27" name="Text 20"/>
          <p:cNvSpPr/>
          <p:nvPr/>
        </p:nvSpPr>
        <p:spPr>
          <a:xfrm>
            <a:off x="7360920" y="321868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300" dirty="0"/>
          </a:p>
        </p:txBody>
      </p:sp>
      <p:pic>
        <p:nvPicPr>
          <p:cNvPr id="28" name="Image 5" descr="/home/claude/ppt/icons/arrowRight_A8C5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988552" y="3794760"/>
            <a:ext cx="292608" cy="29260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7360920" y="4151376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263B63"/>
          </a:solidFill>
          <a:ln/>
        </p:spPr>
      </p:sp>
      <p:sp>
        <p:nvSpPr>
          <p:cNvPr id="30" name="Text 22"/>
          <p:cNvSpPr/>
          <p:nvPr/>
        </p:nvSpPr>
        <p:spPr>
          <a:xfrm>
            <a:off x="7360920" y="4151376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</a:t>
            </a:r>
            <a:endParaRPr lang="en-US" sz="1300" dirty="0"/>
          </a:p>
        </p:txBody>
      </p:sp>
      <p:pic>
        <p:nvPicPr>
          <p:cNvPr id="31" name="Image 6" descr="/home/claude/ppt/icons/arrowRight_A8C5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988552" y="4727448"/>
            <a:ext cx="292608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7360920" y="5084064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F5A623"/>
          </a:solidFill>
          <a:ln/>
        </p:spPr>
      </p:sp>
      <p:sp>
        <p:nvSpPr>
          <p:cNvPr id="33" name="Text 24"/>
          <p:cNvSpPr/>
          <p:nvPr/>
        </p:nvSpPr>
        <p:spPr>
          <a:xfrm>
            <a:off x="7360920" y="508406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SYSTEM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9AA9B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6479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home/claude/ppt/icons/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0195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807208"/>
            <a:ext cx="3008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role-based access, protected REST APIs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9AA9BD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76479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/home/claude/ppt/icons/task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190195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441448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&amp; Issue Management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807208"/>
            <a:ext cx="3008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assign, and track issues with priority levels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9AA9BD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176479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/home/claude/ppt/icons/workflow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190195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441448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Management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02752" y="2807208"/>
            <a:ext cx="3008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transitions and progress monitoring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9AA9BD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00507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/home/claude/ppt/icons/sprin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14223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81728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&amp; Backlog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04672" y="5047488"/>
            <a:ext cx="3008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creation, assignment, and backlog handling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749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9AA9BD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400507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4" descr="/home/claude/ppt/icons/kanban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414223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681728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5047488"/>
            <a:ext cx="3008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Visual, board-based task categorization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749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9AA9BD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400507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5" descr="/home/claude/ppt/icons/report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912" y="4142232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02752" y="4681728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02752" y="5047488"/>
            <a:ext cx="3008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reports, sprint reports, activity dashboards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SYSTEM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pattern separating concerns from request to persistence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12268" y="23774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263B63"/>
          </a:solidFill>
          <a:ln/>
        </p:spPr>
      </p:sp>
      <p:sp>
        <p:nvSpPr>
          <p:cNvPr id="6" name="Text 4"/>
          <p:cNvSpPr/>
          <p:nvPr/>
        </p:nvSpPr>
        <p:spPr>
          <a:xfrm>
            <a:off x="476860" y="256032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6860" y="2971800"/>
            <a:ext cx="21854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incoming HTTP requests &amp; routing</a:t>
            </a:r>
            <a:endParaRPr lang="en-US" sz="1000" dirty="0"/>
          </a:p>
        </p:txBody>
      </p:sp>
      <p:pic>
        <p:nvPicPr>
          <p:cNvPr id="8" name="Image 0" descr="/home/claude/ppt/icons/arrowRight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020" y="2930652"/>
            <a:ext cx="347472" cy="3108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29788" y="23774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263B63"/>
          </a:solidFill>
          <a:ln/>
        </p:spPr>
      </p:sp>
      <p:sp>
        <p:nvSpPr>
          <p:cNvPr id="10" name="Text 7"/>
          <p:cNvSpPr/>
          <p:nvPr/>
        </p:nvSpPr>
        <p:spPr>
          <a:xfrm>
            <a:off x="3494380" y="256032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494380" y="2971800"/>
            <a:ext cx="21854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orchestration</a:t>
            </a:r>
            <a:endParaRPr lang="en-US" sz="1000" dirty="0"/>
          </a:p>
        </p:txBody>
      </p:sp>
      <p:pic>
        <p:nvPicPr>
          <p:cNvPr id="12" name="Image 1" descr="/home/claude/ppt/icons/arrowRight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540" y="2930652"/>
            <a:ext cx="347472" cy="3108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47308" y="23774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263B63"/>
          </a:solidFill>
          <a:ln/>
        </p:spPr>
      </p:sp>
      <p:sp>
        <p:nvSpPr>
          <p:cNvPr id="14" name="Text 10"/>
          <p:cNvSpPr/>
          <p:nvPr/>
        </p:nvSpPr>
        <p:spPr>
          <a:xfrm>
            <a:off x="6511900" y="256032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511900" y="2971800"/>
            <a:ext cx="21854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via Spring Data JPA</a:t>
            </a:r>
            <a:endParaRPr lang="en-US" sz="1000" dirty="0"/>
          </a:p>
        </p:txBody>
      </p:sp>
      <p:pic>
        <p:nvPicPr>
          <p:cNvPr id="16" name="Image 2" descr="/home/claude/ppt/icons/arrowRight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5060" y="2930652"/>
            <a:ext cx="347472" cy="31089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364828" y="23774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5A623"/>
          </a:solidFill>
          <a:ln/>
        </p:spPr>
      </p:sp>
      <p:sp>
        <p:nvSpPr>
          <p:cNvPr id="18" name="Text 13"/>
          <p:cNvSpPr/>
          <p:nvPr/>
        </p:nvSpPr>
        <p:spPr>
          <a:xfrm>
            <a:off x="9529420" y="256032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9529420" y="2971800"/>
            <a:ext cx="21854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persistence with Hibernate ORM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83768" y="4297680"/>
            <a:ext cx="2468880" cy="502920"/>
          </a:xfrm>
          <a:prstGeom prst="roundRect">
            <a:avLst>
              <a:gd name="adj" fmla="val 50909"/>
            </a:avLst>
          </a:prstGeom>
          <a:solidFill>
            <a:srgbClr val="263B63"/>
          </a:solidFill>
          <a:ln w="9525">
            <a:solidFill>
              <a:srgbClr val="A8C5E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83768" y="4297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Reusability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3535528" y="4297680"/>
            <a:ext cx="2468880" cy="502920"/>
          </a:xfrm>
          <a:prstGeom prst="roundRect">
            <a:avLst>
              <a:gd name="adj" fmla="val 50909"/>
            </a:avLst>
          </a:prstGeom>
          <a:solidFill>
            <a:srgbClr val="263B63"/>
          </a:solidFill>
          <a:ln w="9525">
            <a:solidFill>
              <a:srgbClr val="A8C5E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535528" y="4297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187288" y="4297680"/>
            <a:ext cx="2468880" cy="502920"/>
          </a:xfrm>
          <a:prstGeom prst="roundRect">
            <a:avLst>
              <a:gd name="adj" fmla="val 50909"/>
            </a:avLst>
          </a:prstGeom>
          <a:solidFill>
            <a:srgbClr val="263B63"/>
          </a:solidFill>
          <a:ln w="9525">
            <a:solidFill>
              <a:srgbClr val="A8C5E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187288" y="4297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8839048" y="4297680"/>
            <a:ext cx="2468880" cy="502920"/>
          </a:xfrm>
          <a:prstGeom prst="roundRect">
            <a:avLst>
              <a:gd name="adj" fmla="val 50909"/>
            </a:avLst>
          </a:prstGeom>
          <a:solidFill>
            <a:srgbClr val="263B63"/>
          </a:solidFill>
          <a:ln w="9525">
            <a:solidFill>
              <a:srgbClr val="A8C5E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839048" y="4297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Development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548640" y="5257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used: Controller · Service · Repository · Entity · DTO · Security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SYSTEM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2139696" cy="4480560"/>
          </a:xfrm>
          <a:prstGeom prst="roundRect">
            <a:avLst>
              <a:gd name="adj" fmla="val 4274"/>
            </a:avLst>
          </a:prstGeom>
          <a:solidFill>
            <a:srgbClr val="EAF1F8"/>
          </a:solidFill>
          <a:ln/>
        </p:spPr>
      </p:sp>
      <p:sp>
        <p:nvSpPr>
          <p:cNvPr id="5" name="Shape 3"/>
          <p:cNvSpPr/>
          <p:nvPr/>
        </p:nvSpPr>
        <p:spPr>
          <a:xfrm>
            <a:off x="1298448" y="18745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home/claude/ppt/icons/serv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20299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5176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13232" y="3108960"/>
            <a:ext cx="181051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3108960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3232" y="3584448"/>
            <a:ext cx="181051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358444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13232" y="4059936"/>
            <a:ext cx="181051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" y="4059936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13232" y="4535424"/>
            <a:ext cx="181051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768096" y="4535424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3232" y="5010912"/>
            <a:ext cx="181051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768096" y="5010912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ORM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13232" y="5486400"/>
            <a:ext cx="181051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" y="5486400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98064" y="1600200"/>
            <a:ext cx="2139696" cy="4480560"/>
          </a:xfrm>
          <a:prstGeom prst="roundRect">
            <a:avLst>
              <a:gd name="adj" fmla="val 4274"/>
            </a:avLst>
          </a:prstGeom>
          <a:solidFill>
            <a:srgbClr val="EAF1F8"/>
          </a:solidFill>
          <a:ln/>
        </p:spPr>
      </p:sp>
      <p:sp>
        <p:nvSpPr>
          <p:cNvPr id="21" name="Shape 18"/>
          <p:cNvSpPr/>
          <p:nvPr/>
        </p:nvSpPr>
        <p:spPr>
          <a:xfrm>
            <a:off x="3547872" y="18745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1" descr="/home/claude/ppt/icons/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029968"/>
            <a:ext cx="329184" cy="32918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889504" y="265176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2962656" y="3108960"/>
            <a:ext cx="181051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5" name="Text 21"/>
          <p:cNvSpPr/>
          <p:nvPr/>
        </p:nvSpPr>
        <p:spPr>
          <a:xfrm>
            <a:off x="3017520" y="3108960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047488" y="1600200"/>
            <a:ext cx="2139696" cy="4480560"/>
          </a:xfrm>
          <a:prstGeom prst="roundRect">
            <a:avLst>
              <a:gd name="adj" fmla="val 4274"/>
            </a:avLst>
          </a:prstGeom>
          <a:solidFill>
            <a:srgbClr val="EAF1F8"/>
          </a:solidFill>
          <a:ln/>
        </p:spPr>
      </p:sp>
      <p:sp>
        <p:nvSpPr>
          <p:cNvPr id="27" name="Shape 23"/>
          <p:cNvSpPr/>
          <p:nvPr/>
        </p:nvSpPr>
        <p:spPr>
          <a:xfrm>
            <a:off x="5797296" y="18745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8" name="Image 2" descr="/home/claude/ppt/icons/cod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744" y="2029968"/>
            <a:ext cx="329184" cy="32918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138928" y="265176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30" name="Shape 25"/>
          <p:cNvSpPr/>
          <p:nvPr/>
        </p:nvSpPr>
        <p:spPr>
          <a:xfrm>
            <a:off x="5212080" y="3108960"/>
            <a:ext cx="181051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1" name="Text 26"/>
          <p:cNvSpPr/>
          <p:nvPr/>
        </p:nvSpPr>
        <p:spPr>
          <a:xfrm>
            <a:off x="5266944" y="3108960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212080" y="3584448"/>
            <a:ext cx="181051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3" name="Text 28"/>
          <p:cNvSpPr/>
          <p:nvPr/>
        </p:nvSpPr>
        <p:spPr>
          <a:xfrm>
            <a:off x="5266944" y="358444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5212080" y="4059936"/>
            <a:ext cx="181051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5" name="Text 30"/>
          <p:cNvSpPr/>
          <p:nvPr/>
        </p:nvSpPr>
        <p:spPr>
          <a:xfrm>
            <a:off x="5266944" y="4059936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7296912" y="1600200"/>
            <a:ext cx="2139696" cy="4480560"/>
          </a:xfrm>
          <a:prstGeom prst="roundRect">
            <a:avLst>
              <a:gd name="adj" fmla="val 4274"/>
            </a:avLst>
          </a:prstGeom>
          <a:solidFill>
            <a:srgbClr val="EAF1F8"/>
          </a:solidFill>
          <a:ln/>
        </p:spPr>
      </p:sp>
      <p:sp>
        <p:nvSpPr>
          <p:cNvPr id="37" name="Shape 32"/>
          <p:cNvSpPr/>
          <p:nvPr/>
        </p:nvSpPr>
        <p:spPr>
          <a:xfrm>
            <a:off x="8046720" y="18745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8" name="Image 3" descr="/home/claude/ppt/icons/key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168" y="2029968"/>
            <a:ext cx="329184" cy="32918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388352" y="265176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50" dirty="0"/>
          </a:p>
        </p:txBody>
      </p:sp>
      <p:sp>
        <p:nvSpPr>
          <p:cNvPr id="40" name="Shape 34"/>
          <p:cNvSpPr/>
          <p:nvPr/>
        </p:nvSpPr>
        <p:spPr>
          <a:xfrm>
            <a:off x="7461504" y="3108960"/>
            <a:ext cx="181051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41" name="Text 35"/>
          <p:cNvSpPr/>
          <p:nvPr/>
        </p:nvSpPr>
        <p:spPr>
          <a:xfrm>
            <a:off x="7516368" y="3108960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9546336" y="1600200"/>
            <a:ext cx="2139696" cy="4480560"/>
          </a:xfrm>
          <a:prstGeom prst="roundRect">
            <a:avLst>
              <a:gd name="adj" fmla="val 4274"/>
            </a:avLst>
          </a:prstGeom>
          <a:solidFill>
            <a:srgbClr val="EAF1F8"/>
          </a:solidFill>
          <a:ln/>
        </p:spPr>
      </p:sp>
      <p:sp>
        <p:nvSpPr>
          <p:cNvPr id="43" name="Shape 37"/>
          <p:cNvSpPr/>
          <p:nvPr/>
        </p:nvSpPr>
        <p:spPr>
          <a:xfrm>
            <a:off x="10296144" y="18745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4" name="Image 4" descr="/home/claude/ppt/icons/clou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1592" y="2029968"/>
            <a:ext cx="329184" cy="329184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9637776" y="265176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350" dirty="0"/>
          </a:p>
        </p:txBody>
      </p:sp>
      <p:sp>
        <p:nvSpPr>
          <p:cNvPr id="46" name="Shape 39"/>
          <p:cNvSpPr/>
          <p:nvPr/>
        </p:nvSpPr>
        <p:spPr>
          <a:xfrm>
            <a:off x="9710928" y="3108960"/>
            <a:ext cx="181051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47" name="Text 40"/>
          <p:cNvSpPr/>
          <p:nvPr/>
        </p:nvSpPr>
        <p:spPr>
          <a:xfrm>
            <a:off x="9765792" y="3108960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SYSTEM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Modules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EAF1F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82496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home/claude/ppt/icons/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196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00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19476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login, registration &amp; JWT validation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EAF1F8"/>
          </a:solidFill>
          <a:ln/>
        </p:spPr>
      </p:sp>
      <p:sp>
        <p:nvSpPr>
          <p:cNvPr id="10" name="Shape 7"/>
          <p:cNvSpPr/>
          <p:nvPr/>
        </p:nvSpPr>
        <p:spPr>
          <a:xfrm>
            <a:off x="6355080" y="1682496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/home/claude/ppt/icons/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1965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600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086600" y="19476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 &amp; role assignments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606040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EAF1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2779776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/home/claude/ppt/icons/task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91693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2697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Management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63040" y="304495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issue creation &amp; tracking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72200" y="2606040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EAF1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355080" y="2779776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/home/claude/ppt/icons/workflow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91693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2697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086600" y="304495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status transitions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703320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EAF1F8"/>
          </a:solidFill>
          <a:ln/>
        </p:spPr>
      </p:sp>
      <p:sp>
        <p:nvSpPr>
          <p:cNvPr id="25" name="Shape 19"/>
          <p:cNvSpPr/>
          <p:nvPr/>
        </p:nvSpPr>
        <p:spPr>
          <a:xfrm>
            <a:off x="731520" y="3877056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4" descr="/home/claude/ppt/icons/sprin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01421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3794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463040" y="414223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sprint activities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72200" y="3703320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EAF1F8"/>
          </a:solidFill>
          <a:ln/>
        </p:spPr>
      </p:sp>
      <p:sp>
        <p:nvSpPr>
          <p:cNvPr id="30" name="Shape 23"/>
          <p:cNvSpPr/>
          <p:nvPr/>
        </p:nvSpPr>
        <p:spPr>
          <a:xfrm>
            <a:off x="6355080" y="3877056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5" descr="/home/claude/ppt/icons/kanban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4014216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86600" y="3794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086600" y="414223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task organization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4800600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EAF1F8"/>
          </a:solidFill>
          <a:ln/>
        </p:spPr>
      </p:sp>
      <p:sp>
        <p:nvSpPr>
          <p:cNvPr id="35" name="Shape 27"/>
          <p:cNvSpPr/>
          <p:nvPr/>
        </p:nvSpPr>
        <p:spPr>
          <a:xfrm>
            <a:off x="731520" y="4974336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6" name="Image 6" descr="/home/claude/ppt/icons/report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5111496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63040" y="4892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1463040" y="52395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172200" y="4800600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EAF1F8"/>
          </a:solidFill>
          <a:ln/>
        </p:spPr>
      </p:sp>
      <p:sp>
        <p:nvSpPr>
          <p:cNvPr id="40" name="Shape 31"/>
          <p:cNvSpPr/>
          <p:nvPr/>
        </p:nvSpPr>
        <p:spPr>
          <a:xfrm>
            <a:off x="6355080" y="4974336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1" name="Image 7" descr="/home/claude/ppt/icons/attach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5111496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086600" y="4892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7086600" y="52395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&amp; storage via Cloudinary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SYSTEM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with proper entity relationship mapping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pic>
        <p:nvPicPr>
          <p:cNvPr id="6" name="Image 0" descr="/home/claude/ppt/icons/database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16712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9659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108960" y="19659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pic>
        <p:nvPicPr>
          <p:cNvPr id="9" name="Image 1" descr="/home/claude/ppt/icons/database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264" y="216712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03320" y="19659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669280" y="19659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pic>
        <p:nvPicPr>
          <p:cNvPr id="12" name="Image 2" descr="/home/claude/ppt/icons/database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216712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63640" y="19659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48640" y="29718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pic>
        <p:nvPicPr>
          <p:cNvPr id="15" name="Image 3" descr="/home/claude/ppt/icons/database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172968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29718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3108960" y="29718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pic>
        <p:nvPicPr>
          <p:cNvPr id="18" name="Image 4" descr="/home/claude/ppt/icons/database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264" y="3172968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703320" y="29718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5669280" y="29718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pic>
        <p:nvPicPr>
          <p:cNvPr id="21" name="Image 5" descr="/home/claude/ppt/icons/database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3172968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263640" y="29718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548640" y="39776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pic>
        <p:nvPicPr>
          <p:cNvPr id="24" name="Image 6" descr="/home/claude/ppt/icons/database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178808"/>
            <a:ext cx="365760" cy="3657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43000" y="39776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400" dirty="0"/>
          </a:p>
        </p:txBody>
      </p:sp>
      <p:sp>
        <p:nvSpPr>
          <p:cNvPr id="26" name="Shape 17"/>
          <p:cNvSpPr/>
          <p:nvPr/>
        </p:nvSpPr>
        <p:spPr>
          <a:xfrm>
            <a:off x="3108960" y="39776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pic>
        <p:nvPicPr>
          <p:cNvPr id="27" name="Image 7" descr="/home/claude/ppt/icons/database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264" y="4178808"/>
            <a:ext cx="365760" cy="36576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703320" y="39776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</a:t>
            </a:r>
            <a:endParaRPr lang="en-US" sz="1400" dirty="0"/>
          </a:p>
        </p:txBody>
      </p:sp>
      <p:sp>
        <p:nvSpPr>
          <p:cNvPr id="29" name="Shape 19"/>
          <p:cNvSpPr/>
          <p:nvPr/>
        </p:nvSpPr>
        <p:spPr>
          <a:xfrm>
            <a:off x="5669280" y="39776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pic>
        <p:nvPicPr>
          <p:cNvPr id="30" name="Image 8" descr="/home/claude/ppt/icons/database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4178808"/>
            <a:ext cx="365760" cy="36576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263640" y="39776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400" dirty="0"/>
          </a:p>
        </p:txBody>
      </p:sp>
      <p:sp>
        <p:nvSpPr>
          <p:cNvPr id="32" name="Shape 21"/>
          <p:cNvSpPr/>
          <p:nvPr/>
        </p:nvSpPr>
        <p:spPr>
          <a:xfrm>
            <a:off x="809244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EAF1F8"/>
          </a:solidFill>
          <a:ln/>
        </p:spPr>
      </p:sp>
      <p:sp>
        <p:nvSpPr>
          <p:cNvPr id="33" name="Text 22"/>
          <p:cNvSpPr/>
          <p:nvPr/>
        </p:nvSpPr>
        <p:spPr>
          <a:xfrm>
            <a:off x="8321040" y="2148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Used</a:t>
            </a:r>
            <a:endParaRPr lang="en-US" sz="1400" dirty="0"/>
          </a:p>
        </p:txBody>
      </p:sp>
      <p:sp>
        <p:nvSpPr>
          <p:cNvPr id="34" name="Shape 23"/>
          <p:cNvSpPr/>
          <p:nvPr/>
        </p:nvSpPr>
        <p:spPr>
          <a:xfrm>
            <a:off x="8321040" y="278892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5" name="Text 24"/>
          <p:cNvSpPr/>
          <p:nvPr/>
        </p:nvSpPr>
        <p:spPr>
          <a:xfrm>
            <a:off x="8595360" y="26700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</a:t>
            </a:r>
            <a:endParaRPr lang="en-US" sz="1250" dirty="0"/>
          </a:p>
        </p:txBody>
      </p:sp>
      <p:sp>
        <p:nvSpPr>
          <p:cNvPr id="36" name="Shape 25"/>
          <p:cNvSpPr/>
          <p:nvPr/>
        </p:nvSpPr>
        <p:spPr>
          <a:xfrm>
            <a:off x="8321040" y="335584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7" name="Text 26"/>
          <p:cNvSpPr/>
          <p:nvPr/>
        </p:nvSpPr>
        <p:spPr>
          <a:xfrm>
            <a:off x="8595360" y="32369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Many-to-One</a:t>
            </a:r>
            <a:endParaRPr lang="en-US" sz="1250" dirty="0"/>
          </a:p>
        </p:txBody>
      </p:sp>
      <p:sp>
        <p:nvSpPr>
          <p:cNvPr id="38" name="Shape 27"/>
          <p:cNvSpPr/>
          <p:nvPr/>
        </p:nvSpPr>
        <p:spPr>
          <a:xfrm>
            <a:off x="8321040" y="3922776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9" name="Text 28"/>
          <p:cNvSpPr/>
          <p:nvPr/>
        </p:nvSpPr>
        <p:spPr>
          <a:xfrm>
            <a:off x="8595360" y="38039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  <a:endParaRPr lang="en-US" sz="1250" dirty="0"/>
          </a:p>
        </p:txBody>
      </p:sp>
      <p:sp>
        <p:nvSpPr>
          <p:cNvPr id="40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SYSTEM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Implementation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only authorized users can access protected resources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66928" cy="566928"/>
          </a:xfrm>
          <a:prstGeom prst="ellipse">
            <a:avLst/>
          </a:prstGeom>
          <a:solidFill>
            <a:srgbClr val="263B63"/>
          </a:solidFill>
          <a:ln/>
        </p:spPr>
      </p:sp>
      <p:pic>
        <p:nvPicPr>
          <p:cNvPr id="6" name="Image 0" descr="/home/claude/ppt/icons/shield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4884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9933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80160" y="23042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framework securing every endpoint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566928" cy="566928"/>
          </a:xfrm>
          <a:prstGeom prst="ellipse">
            <a:avLst/>
          </a:prstGeom>
          <a:solidFill>
            <a:srgbClr val="263B63"/>
          </a:solidFill>
          <a:ln/>
        </p:spPr>
      </p:sp>
      <p:pic>
        <p:nvPicPr>
          <p:cNvPr id="10" name="Image 1" descr="/home/claude/ppt/icons/key_F5A6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2608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7706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Validation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80160" y="30815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signed tokens verify each request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566160"/>
            <a:ext cx="566928" cy="566928"/>
          </a:xfrm>
          <a:prstGeom prst="ellipse">
            <a:avLst/>
          </a:prstGeom>
          <a:solidFill>
            <a:srgbClr val="263B63"/>
          </a:solidFill>
          <a:ln/>
        </p:spPr>
      </p:sp>
      <p:pic>
        <p:nvPicPr>
          <p:cNvPr id="14" name="Image 2" descr="/home/claude/ppt/icons/filter_F5A6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0332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5478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Filters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80160" y="3858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Intercepts and validates requests before routing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343400"/>
            <a:ext cx="566928" cy="566928"/>
          </a:xfrm>
          <a:prstGeom prst="ellipse">
            <a:avLst/>
          </a:prstGeom>
          <a:solidFill>
            <a:srgbClr val="263B63"/>
          </a:solidFill>
          <a:ln/>
        </p:spPr>
      </p:sp>
      <p:pic>
        <p:nvPicPr>
          <p:cNvPr id="18" name="Image 3" descr="/home/claude/ppt/icons/users_F5A6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48056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43251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Authorization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280160" y="46360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scoped to user roles &amp; permissions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5120640"/>
            <a:ext cx="566928" cy="566928"/>
          </a:xfrm>
          <a:prstGeom prst="ellipse">
            <a:avLst/>
          </a:prstGeom>
          <a:solidFill>
            <a:srgbClr val="263B63"/>
          </a:solidFill>
          <a:ln/>
        </p:spPr>
      </p:sp>
      <p:pic>
        <p:nvPicPr>
          <p:cNvPr id="22" name="Image 4" descr="/home/claude/ppt/icons/lock_F5A6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257800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51023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Endpoint Protection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280160" y="5413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REST APIs across all modules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SYSTEM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Coverage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91640"/>
            <a:ext cx="2542032" cy="1234440"/>
          </a:xfrm>
          <a:prstGeom prst="roundRect">
            <a:avLst>
              <a:gd name="adj" fmla="val 7407"/>
            </a:avLst>
          </a:prstGeom>
          <a:solidFill>
            <a:srgbClr val="1B2A4A"/>
          </a:solidFill>
          <a:ln/>
        </p:spPr>
      </p:sp>
      <p:pic>
        <p:nvPicPr>
          <p:cNvPr id="5" name="Image 0" descr="/home/claude/ppt/icons/api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745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7744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APIs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310128" y="1691640"/>
            <a:ext cx="2542032" cy="1234440"/>
          </a:xfrm>
          <a:prstGeom prst="roundRect">
            <a:avLst>
              <a:gd name="adj" fmla="val 7407"/>
            </a:avLst>
          </a:prstGeom>
          <a:solidFill>
            <a:srgbClr val="27406E"/>
          </a:solidFill>
          <a:ln/>
        </p:spPr>
      </p:sp>
      <p:pic>
        <p:nvPicPr>
          <p:cNvPr id="8" name="Image 1" descr="/home/claude/ppt/icons/api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187452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93008" y="237744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APIs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071616" y="1691640"/>
            <a:ext cx="2542032" cy="1234440"/>
          </a:xfrm>
          <a:prstGeom prst="roundRect">
            <a:avLst>
              <a:gd name="adj" fmla="val 7407"/>
            </a:avLst>
          </a:prstGeom>
          <a:solidFill>
            <a:srgbClr val="1B2A4A"/>
          </a:solidFill>
          <a:ln/>
        </p:spPr>
      </p:sp>
      <p:pic>
        <p:nvPicPr>
          <p:cNvPr id="11" name="Image 2" descr="/home/claude/ppt/icons/api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87452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54496" y="237744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APIs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833104" y="1691640"/>
            <a:ext cx="2542032" cy="1234440"/>
          </a:xfrm>
          <a:prstGeom prst="roundRect">
            <a:avLst>
              <a:gd name="adj" fmla="val 7407"/>
            </a:avLst>
          </a:prstGeom>
          <a:solidFill>
            <a:srgbClr val="27406E"/>
          </a:solidFill>
          <a:ln/>
        </p:spPr>
      </p:sp>
      <p:pic>
        <p:nvPicPr>
          <p:cNvPr id="14" name="Image 3" descr="/home/claude/ppt/icons/api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2" y="187452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15984" y="237744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APIs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3182112"/>
            <a:ext cx="2542032" cy="1234440"/>
          </a:xfrm>
          <a:prstGeom prst="roundRect">
            <a:avLst>
              <a:gd name="adj" fmla="val 7407"/>
            </a:avLst>
          </a:prstGeom>
          <a:solidFill>
            <a:srgbClr val="1B2A4A"/>
          </a:solidFill>
          <a:ln/>
        </p:spPr>
      </p:sp>
      <p:pic>
        <p:nvPicPr>
          <p:cNvPr id="17" name="Image 4" descr="/home/claude/ppt/icons/api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364992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31520" y="3867912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APIs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3310128" y="3182112"/>
            <a:ext cx="2542032" cy="1234440"/>
          </a:xfrm>
          <a:prstGeom prst="roundRect">
            <a:avLst>
              <a:gd name="adj" fmla="val 7407"/>
            </a:avLst>
          </a:prstGeom>
          <a:solidFill>
            <a:srgbClr val="27406E"/>
          </a:solidFill>
          <a:ln/>
        </p:spPr>
      </p:sp>
      <p:pic>
        <p:nvPicPr>
          <p:cNvPr id="20" name="Image 5" descr="/home/claude/ppt/icons/api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3364992"/>
            <a:ext cx="384048" cy="3840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493008" y="3867912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APIs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6071616" y="3182112"/>
            <a:ext cx="2542032" cy="1234440"/>
          </a:xfrm>
          <a:prstGeom prst="roundRect">
            <a:avLst>
              <a:gd name="adj" fmla="val 7407"/>
            </a:avLst>
          </a:prstGeom>
          <a:solidFill>
            <a:srgbClr val="1B2A4A"/>
          </a:solidFill>
          <a:ln/>
        </p:spPr>
      </p:sp>
      <p:pic>
        <p:nvPicPr>
          <p:cNvPr id="23" name="Image 6" descr="/home/claude/ppt/icons/api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3364992"/>
            <a:ext cx="384048" cy="38404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254496" y="3867912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APIs</a:t>
            </a:r>
            <a:endParaRPr lang="en-US" sz="1250" dirty="0"/>
          </a:p>
        </p:txBody>
      </p:sp>
      <p:sp>
        <p:nvSpPr>
          <p:cNvPr id="25" name="Text 16"/>
          <p:cNvSpPr/>
          <p:nvPr/>
        </p:nvSpPr>
        <p:spPr>
          <a:xfrm>
            <a:off x="548640" y="480974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endpoints follow REST conventions with global exception handling and input validation.</a:t>
            </a:r>
            <a:endParaRPr lang="en-US" sz="1250" dirty="0"/>
          </a:p>
        </p:txBody>
      </p:sp>
      <p:sp>
        <p:nvSpPr>
          <p:cNvPr id="26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SYSTEM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02920" cy="54864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5" name="Image 0" descr="/home/claude/ppt/icons/rocket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990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150" dirty="0"/>
          </a:p>
        </p:txBody>
      </p:sp>
      <p:pic>
        <p:nvPicPr>
          <p:cNvPr id="7" name="Image 1" descr="/home/claude/ppt/icons/rocket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990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44568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System</a:t>
            </a:r>
            <a:endParaRPr lang="en-US" sz="1150" dirty="0"/>
          </a:p>
        </p:txBody>
      </p:sp>
      <p:pic>
        <p:nvPicPr>
          <p:cNvPr id="9" name="Image 2" descr="/home/claude/ppt/icons/rocket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399032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47888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Analytics</a:t>
            </a:r>
            <a:endParaRPr lang="en-US" sz="1150" dirty="0"/>
          </a:p>
        </p:txBody>
      </p:sp>
      <p:pic>
        <p:nvPicPr>
          <p:cNvPr id="11" name="Image 3" descr="/home/claude/ppt/icons/rocket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01952"/>
            <a:ext cx="219456" cy="219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41248" y="1874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50" dirty="0"/>
          </a:p>
        </p:txBody>
      </p:sp>
      <p:pic>
        <p:nvPicPr>
          <p:cNvPr id="13" name="Image 4" descr="/home/claude/ppt/icons/rocket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901952"/>
            <a:ext cx="219456" cy="2194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544568" y="1874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50" dirty="0"/>
          </a:p>
        </p:txBody>
      </p:sp>
      <p:pic>
        <p:nvPicPr>
          <p:cNvPr id="15" name="Image 5" descr="/home/claude/ppt/icons/rocket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901952"/>
            <a:ext cx="219456" cy="21945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247888" y="1874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</a:t>
            </a:r>
            <a:endParaRPr lang="en-US" sz="1150" dirty="0"/>
          </a:p>
        </p:txBody>
      </p:sp>
      <p:pic>
        <p:nvPicPr>
          <p:cNvPr id="17" name="Image 6" descr="/home/claude/ppt/icons/rocket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04872"/>
            <a:ext cx="219456" cy="21945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41248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Dashboard</a:t>
            </a:r>
            <a:endParaRPr lang="en-US" sz="1150" dirty="0"/>
          </a:p>
        </p:txBody>
      </p:sp>
      <p:sp>
        <p:nvSpPr>
          <p:cNvPr id="19" name="Shape 10"/>
          <p:cNvSpPr/>
          <p:nvPr/>
        </p:nvSpPr>
        <p:spPr>
          <a:xfrm>
            <a:off x="548640" y="3246120"/>
            <a:ext cx="11064240" cy="0"/>
          </a:xfrm>
          <a:prstGeom prst="line">
            <a:avLst/>
          </a:prstGeom>
          <a:noFill/>
          <a:ln w="12700">
            <a:solidFill>
              <a:srgbClr val="3A4E75"/>
            </a:solidFill>
            <a:prstDash val="solid"/>
          </a:ln>
        </p:spPr>
      </p:sp>
      <p:sp>
        <p:nvSpPr>
          <p:cNvPr id="20" name="Text 11"/>
          <p:cNvSpPr/>
          <p:nvPr/>
        </p:nvSpPr>
        <p:spPr>
          <a:xfrm>
            <a:off x="548640" y="3474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21" name="Text 12"/>
          <p:cNvSpPr/>
          <p:nvPr/>
        </p:nvSpPr>
        <p:spPr>
          <a:xfrm>
            <a:off x="548640" y="397764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secure backend development, modular layered architecture, workflow handling, sprint organization, issue tracking, and enterprise-level REST API design using Java and Spring Boot.</a:t>
            </a:r>
            <a:endParaRPr lang="en-US" sz="1300" dirty="0"/>
          </a:p>
        </p:txBody>
      </p:sp>
      <p:sp>
        <p:nvSpPr>
          <p:cNvPr id="22" name="Shape 13"/>
          <p:cNvSpPr/>
          <p:nvPr/>
        </p:nvSpPr>
        <p:spPr>
          <a:xfrm>
            <a:off x="8412480" y="3840480"/>
            <a:ext cx="3200400" cy="2194560"/>
          </a:xfrm>
          <a:prstGeom prst="roundRect">
            <a:avLst>
              <a:gd name="adj" fmla="val 4167"/>
            </a:avLst>
          </a:prstGeom>
          <a:solidFill>
            <a:srgbClr val="263B63"/>
          </a:solidFill>
          <a:ln/>
        </p:spPr>
      </p:sp>
      <p:sp>
        <p:nvSpPr>
          <p:cNvPr id="23" name="Text 14"/>
          <p:cNvSpPr/>
          <p:nvPr/>
        </p:nvSpPr>
        <p:spPr>
          <a:xfrm>
            <a:off x="864108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8641080" y="4389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github.com/prashantpiyush1111/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task-management-system</a:t>
            </a:r>
            <a:endParaRPr lang="en-US" sz="1050" dirty="0"/>
          </a:p>
        </p:txBody>
      </p:sp>
      <p:sp>
        <p:nvSpPr>
          <p:cNvPr id="25" name="Text 16"/>
          <p:cNvSpPr/>
          <p:nvPr/>
        </p:nvSpPr>
        <p:spPr>
          <a:xfrm>
            <a:off x="8641080" y="5074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8641080" y="5394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Prashant Maurya — Java Full Stack Developer</a:t>
            </a:r>
            <a:endParaRPr lang="en-US" sz="1050" dirty="0"/>
          </a:p>
        </p:txBody>
      </p:sp>
      <p:sp>
        <p:nvSpPr>
          <p:cNvPr id="27" name="Text 18"/>
          <p:cNvSpPr/>
          <p:nvPr/>
        </p:nvSpPr>
        <p:spPr>
          <a:xfrm>
            <a:off x="548640" y="5989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8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SYSTEM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520</Words>
  <Application>Microsoft Office PowerPoint</Application>
  <PresentationFormat>Widescreen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Prashant Maurya</cp:lastModifiedBy>
  <cp:revision>1</cp:revision>
  <dcterms:created xsi:type="dcterms:W3CDTF">2026-08-15T20:22:03Z</dcterms:created>
  <dcterms:modified xsi:type="dcterms:W3CDTF">2026-08-15T20:25:33Z</dcterms:modified>
</cp:coreProperties>
</file>